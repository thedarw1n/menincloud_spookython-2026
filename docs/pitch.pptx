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1d21d3b0-b33c-1fd4-ebc3-5728d14d8fdc}">
          <p14:sldIdLst>
            <p14:sldId id="256"/>
          </p14:sldIdLst>
        </p14:section>
        <p14:section name="Problema" id="{8bf1d0c2-0700-005c-3dc8-d908e2588fa0}">
          <p14:sldIdLst>
            <p14:sldId id="257"/>
          </p14:sldIdLst>
        </p14:section>
        <p14:section name="Solución" id="{c11c3cb2-7590-3506-081d-82288f7913df}">
          <p14:sldIdLst>
            <p14:sldId id="258"/>
            <p14:sldId id="259"/>
          </p14:sldIdLst>
        </p14:section>
        <p14:section name="Resultados" id="{bdd249da-e46c-6957-d878-78295da2a589}">
          <p14:sldIdLst>
            <p14:sldId id="260"/>
            <p14:sldId id="261"/>
          </p14:sldIdLst>
        </p14:section>
        <p14:section name="AWS" id="{05ea644d-2588-51e7-9a32-3d81861f1561}">
          <p14:sldIdLst>
            <p14:sldId id="262"/>
          </p14:sldIdLst>
        </p14:section>
        <p14:section name="Cierre" id="{e6a3b7fb-e545-4d34-3670-95d12f8102e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A/B: producción menos una pieza (de 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Supervivencia + eficiencia (de 7)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6AD5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Sin PRO ni costo por cruce</c:v>
                  </c:pt>
                  <c:pt idx="1">
                    <c:v>Sin costo por cruce</c:v>
                  </c:pt>
                  <c:pt idx="2">
                    <c:v>Sin los 3 PRO</c:v>
                  </c:pt>
                  <c:pt idx="3">
                    <c:v>Sin flota</c:v>
                  </c:pt>
                  <c:pt idx="4">
                    <c:v>Sin predicción</c:v>
                  </c:pt>
                  <c:pt idx="5">
                    <c:v>Producción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6.282</c:v>
                </c:pt>
                <c:pt idx="1">
                  <c:v>6.339</c:v>
                </c:pt>
                <c:pt idx="2">
                  <c:v>6.473</c:v>
                </c:pt>
                <c:pt idx="3">
                  <c:v>6.478</c:v>
                </c:pt>
                <c:pt idx="4">
                  <c:v>6.502</c:v>
                </c:pt>
                <c:pt idx="5">
                  <c:v>6.539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7"/>
          <c:min val="6"/>
        </c:scaling>
        <c:delete val="0"/>
        <c:axPos val="b"/>
        <c:majorGridlines>
          <c:spPr>
            <a:ln w="9525" cap="flat">
              <a:solidFill>
                <a:srgbClr val="3A345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9D3F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A3A"/>
        </a:solidFill>
        <a:ln>
          <a:noFill/>
        </a:ln>
        <a:effectLst/>
      </c:spPr>
    </c:plotArea>
    <c:plotVisOnly val="1"/>
    <c:dispBlanksAs val="span"/>
  </c:chart>
  <c:spPr>
    <a:solidFill>
      <a:srgbClr val="1E1A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de octubre: Manta amanece infestada. Hay sobrevivientes atrapados en Tarqui, Los Esteros, Barbasquillo y Jocay, y nuestro sistema es la única radio que les queda: les dice, paso a paso, por dónde ir. Somos Jonathan, Kenneth y Jostin, y en 5 minutos les mostramos cómo lo resolvimos y cuánto puntúa.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reto no es Dijkstra: es que el mapa cambia mientras la gente se mueve. Es el núcleo de Uber, de las apps de delivery y de una ruta de evacuación ante tsunamis aquí en Manabí. Si cambiamos zombie por calle cerrada o zona inundada, el mismo motor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turno: primero se mueven los zombies; el planner recalcula UNA sola vez, no por petición: un Dijkstra inverso por refugio. Después los 200 sobrevivientes preguntan POST /paso y cada respuesta es solo una consulta a esas tablas. Al final el simulador valida, cuenta mordidas y llegadas, y el mapa se actualiza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duras: nunca pisa un zombie, ni la horda ni sus vecinos, ni una calle cerrada, y nunca se cruza con un zombie por la misma calle. Entre lo permitido elige el menor costo: distancia y tipo de calle, más 30 segundos por intersección, porque en el juego cada calle es un turno. Y un test juega rondas completas y exige cero mordidas evitables.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esto está medido. En la CI de GitHub levantamos el contenedor en ARM64, como Graviton en Fargate, con 0.5 vCPU, y jugamos las 3 rondas por HTTP: entre 9.54 y 9.61 de 10. Y con todo a la vez, la ronda 3, 200 consultas externas y 30 visores del mapa, el p95 fue de 16 ms con cero errores. A la derecha, el A/B: a la versión final le quitamos una pieza a la vez y siempre empeora; lo que más pesa es el costo por cruce, y los tres PRO juntos suman 0.07.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Hicimos los tres extras y medimos cada uno en el mapa real. Predicción: replicamos la persecución del corredor y evitamos solo las trampas, no cualquier cercanía, porque alejarse de todo alarga las rutas y termina mordiendo más. Capacidad: repartimos según el cupo que tendrá cada refugio cuando llegues. Tiene un costo que medimos: desviar a alguien a un refugio más lejano lo expone más y en la ronda 3 suben las mordidas; lo dejamos activo porque en una evacuación real un refugio lleno no es seguro. Flota: cinco camionetas que el servidor despacha cada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arquitectura: CloudFront, S3 para el mapa, un ALB y una sola tarea Fargate ARM con el estado en memoria, así no hay arranques en frío ni estado repartido en Lambdas. Sin NAT, sin API Gateway, sin Redis: 42 dólares al mes encendido todo el tiempo y unos 7 dólares durante el evento. Seguridad: dos keys, la del jurado solo sirve para pedir pasos, y usuarios IAM con MFA.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donde empezamos: esto no es solo un juego. Con zonas de inundación reales en vez de zombies, es una ruta de evacuación para Manabí. El sistema está desplegado y todo el código, los tests y las mediciones están en el repositorio. ¡Gracias! ¿Preguntas?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309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309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de Manta Zombie · Spookython 2026 · Track 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Escape de Manta Zombie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de rutas en AWS que esquiva zombies en tiempo real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Spookython 2026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Cruz · Kenneth Salazar · Jostin Moran</a:t>
            </a:r>
            <a:endParaRPr lang="en-US" sz="2000" dirty="0"/>
          </a:p>
        </p:txBody>
      </p:sp>
      <p:sp>
        <p:nvSpPr>
          <p:cNvPr id="4" name="marco_mapa"/>
          <p:cNvSpPr/>
          <p:nvPr/>
        </p:nvSpPr>
        <p:spPr>
          <a:xfrm>
            <a:off x="7178040" y="822960"/>
            <a:ext cx="4526280" cy="521208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5" name="grafo_manta" descr="Grafo vial de Manta con barrios y refug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280160"/>
            <a:ext cx="4343400" cy="3090672"/>
          </a:xfrm>
          <a:prstGeom prst="rect">
            <a:avLst/>
          </a:prstGeom>
        </p:spPr>
      </p:pic>
      <p:sp>
        <p:nvSpPr>
          <p:cNvPr id="6" name="pie_mapa"/>
          <p:cNvSpPr txBox="1"/>
          <p:nvPr/>
        </p:nvSpPr>
        <p:spPr>
          <a:xfrm>
            <a:off x="7406640" y="45720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real: 307 intersecciones de OpenStreetMap, 4 barrios atrapados y 4 refugios en zonas altas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mapa cambia mientras te mueves</a:t>
            </a:r>
            <a:endParaRPr lang="en-US" sz="3400" dirty="0"/>
          </a:p>
        </p:txBody>
      </p:sp>
      <p:sp>
        <p:nvSpPr>
          <p:cNvPr id="3" name="tesis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una ruta es fácil. Recalcularla cada 2 segundos para 200 personas a la vez, con zombies que caminan, corren y bloquean calles, en menos de 500 ms, no lo es.</a:t>
            </a:r>
            <a:endParaRPr lang="en-US" sz="2000" dirty="0"/>
          </a:p>
        </p:txBody>
      </p:sp>
      <p:sp>
        <p:nvSpPr>
          <p:cNvPr id="4" name="uso_0"/>
          <p:cNvSpPr/>
          <p:nvPr/>
        </p:nvSpPr>
        <p:spPr>
          <a:xfrm>
            <a:off x="548640" y="2514600"/>
            <a:ext cx="3520440" cy="28803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uso_0_icono_circulo"/>
          <p:cNvSpPr/>
          <p:nvPr/>
        </p:nvSpPr>
        <p:spPr>
          <a:xfrm>
            <a:off x="868680" y="2834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uso_0_icono_emoji"/>
          <p:cNvSpPr txBox="1"/>
          <p:nvPr/>
        </p:nvSpPr>
        <p:spPr>
          <a:xfrm>
            <a:off x="86868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🛵</a:t>
            </a:r>
            <a:endParaRPr lang="en-US" sz="2400" dirty="0"/>
          </a:p>
        </p:txBody>
      </p:sp>
      <p:sp>
        <p:nvSpPr>
          <p:cNvPr id="7" name="uso_0_titulo"/>
          <p:cNvSpPr txBox="1"/>
          <p:nvPr/>
        </p:nvSpPr>
        <p:spPr>
          <a:xfrm>
            <a:off x="86868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Delivery y taxis</a:t>
            </a:r>
            <a:endParaRPr lang="en-US" sz="2000" dirty="0"/>
          </a:p>
        </p:txBody>
      </p:sp>
      <p:sp>
        <p:nvSpPr>
          <p:cNvPr id="8" name="uso_0_texto"/>
          <p:cNvSpPr txBox="1"/>
          <p:nvPr/>
        </p:nvSpPr>
        <p:spPr>
          <a:xfrm>
            <a:off x="868680" y="425196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se rehace con cada calle cerrada o accidente, para cientos de pedidos a la vez.</a:t>
            </a:r>
            <a:endParaRPr lang="en-US" sz="1500" dirty="0"/>
          </a:p>
        </p:txBody>
      </p:sp>
      <p:sp>
        <p:nvSpPr>
          <p:cNvPr id="9" name="uso_1"/>
          <p:cNvSpPr/>
          <p:nvPr/>
        </p:nvSpPr>
        <p:spPr>
          <a:xfrm>
            <a:off x="4325112" y="2514600"/>
            <a:ext cx="3520440" cy="28803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0" name="uso_1_icono_circulo"/>
          <p:cNvSpPr/>
          <p:nvPr/>
        </p:nvSpPr>
        <p:spPr>
          <a:xfrm>
            <a:off x="4645152" y="28346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uso_1_icono_emoji"/>
          <p:cNvSpPr txBox="1"/>
          <p:nvPr/>
        </p:nvSpPr>
        <p:spPr>
          <a:xfrm>
            <a:off x="4645152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🚑</a:t>
            </a:r>
            <a:endParaRPr lang="en-US" sz="2400" dirty="0"/>
          </a:p>
        </p:txBody>
      </p:sp>
      <p:sp>
        <p:nvSpPr>
          <p:cNvPr id="12" name="uso_1_titulo"/>
          <p:cNvSpPr txBox="1"/>
          <p:nvPr/>
        </p:nvSpPr>
        <p:spPr>
          <a:xfrm>
            <a:off x="4645152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Ambulancias</a:t>
            </a:r>
            <a:endParaRPr lang="en-US" sz="2000" dirty="0"/>
          </a:p>
        </p:txBody>
      </p:sp>
      <p:sp>
        <p:nvSpPr>
          <p:cNvPr id="13" name="uso_1_texto"/>
          <p:cNvSpPr txBox="1"/>
          <p:nvPr/>
        </p:nvSpPr>
        <p:spPr>
          <a:xfrm>
            <a:off x="4645152" y="425196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Despachar la unidad correcta y esquivar el tráfico en vivo: segundos que salvan vidas.</a:t>
            </a:r>
            <a:endParaRPr lang="en-US" sz="1500" dirty="0"/>
          </a:p>
        </p:txBody>
      </p:sp>
      <p:sp>
        <p:nvSpPr>
          <p:cNvPr id="14" name="uso_2"/>
          <p:cNvSpPr/>
          <p:nvPr/>
        </p:nvSpPr>
        <p:spPr>
          <a:xfrm>
            <a:off x="8101584" y="2514600"/>
            <a:ext cx="3520440" cy="28803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5" name="uso_2_icono_circulo"/>
          <p:cNvSpPr/>
          <p:nvPr/>
        </p:nvSpPr>
        <p:spPr>
          <a:xfrm>
            <a:off x="8421624" y="28346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uso_2_icono_emoji"/>
          <p:cNvSpPr txBox="1"/>
          <p:nvPr/>
        </p:nvSpPr>
        <p:spPr>
          <a:xfrm>
            <a:off x="8421624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🌊</a:t>
            </a:r>
            <a:endParaRPr lang="en-US" sz="2400" dirty="0"/>
          </a:p>
        </p:txBody>
      </p:sp>
      <p:sp>
        <p:nvSpPr>
          <p:cNvPr id="17" name="uso_2_titulo"/>
          <p:cNvSpPr txBox="1"/>
          <p:nvPr/>
        </p:nvSpPr>
        <p:spPr>
          <a:xfrm>
            <a:off x="8421624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Evacuación</a:t>
            </a:r>
            <a:endParaRPr lang="en-US" sz="2000" dirty="0"/>
          </a:p>
        </p:txBody>
      </p:sp>
      <p:sp>
        <p:nvSpPr>
          <p:cNvPr id="18" name="uso_2_texto"/>
          <p:cNvSpPr txBox="1"/>
          <p:nvPr/>
        </p:nvSpPr>
        <p:spPr>
          <a:xfrm>
            <a:off x="8421624" y="425196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Tsunamis en la costa de Manabí: cambia «zombie» por «zona inundada» y es una ruta de evacuación.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Manta real, cada 2 segundos</a:t>
            </a:r>
            <a:endParaRPr lang="en-US" sz="3400" dirty="0"/>
          </a:p>
        </p:txBody>
      </p:sp>
      <p:sp>
        <p:nvSpPr>
          <p:cNvPr id="3" name="paso_0"/>
          <p:cNvSpPr/>
          <p:nvPr/>
        </p:nvSpPr>
        <p:spPr>
          <a:xfrm>
            <a:off x="548640" y="1371600"/>
            <a:ext cx="64008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paso_0_icono_circulo"/>
          <p:cNvSpPr/>
          <p:nvPr/>
        </p:nvSpPr>
        <p:spPr>
          <a:xfrm>
            <a:off x="749808" y="1591056"/>
            <a:ext cx="621792" cy="6217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paso_0_icono_emoji"/>
          <p:cNvSpPr txBox="1"/>
          <p:nvPr/>
        </p:nvSpPr>
        <p:spPr>
          <a:xfrm>
            <a:off x="749808" y="15910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🧟</a:t>
            </a:r>
            <a:endParaRPr lang="en-US" sz="2000" dirty="0"/>
          </a:p>
        </p:txBody>
      </p:sp>
      <p:sp>
        <p:nvSpPr>
          <p:cNvPr id="6" name="paso_0_titulo"/>
          <p:cNvSpPr txBox="1"/>
          <p:nvPr/>
        </p:nvSpPr>
        <p:spPr>
          <a:xfrm>
            <a:off x="1554480" y="148132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 mueven los zombies</a:t>
            </a:r>
            <a:endParaRPr lang="en-US" sz="1800" dirty="0"/>
          </a:p>
        </p:txBody>
      </p:sp>
      <p:sp>
        <p:nvSpPr>
          <p:cNvPr id="7" name="paso_0_texto"/>
          <p:cNvSpPr txBox="1"/>
          <p:nvPr/>
        </p:nvSpPr>
        <p:spPr>
          <a:xfrm>
            <a:off x="1554480" y="18745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Caminantes, corredores que persiguen, hordas que bloquean y dormidos invisibles.</a:t>
            </a:r>
            <a:endParaRPr lang="en-US" sz="1400" dirty="0"/>
          </a:p>
        </p:txBody>
      </p:sp>
      <p:sp>
        <p:nvSpPr>
          <p:cNvPr id="8" name="paso_1"/>
          <p:cNvSpPr/>
          <p:nvPr/>
        </p:nvSpPr>
        <p:spPr>
          <a:xfrm>
            <a:off x="548640" y="2578608"/>
            <a:ext cx="64008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9" name="paso_1_icono_circulo"/>
          <p:cNvSpPr/>
          <p:nvPr/>
        </p:nvSpPr>
        <p:spPr>
          <a:xfrm>
            <a:off x="749808" y="2798064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aso_1_icono_emoji"/>
          <p:cNvSpPr txBox="1"/>
          <p:nvPr/>
        </p:nvSpPr>
        <p:spPr>
          <a:xfrm>
            <a:off x="749808" y="27980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11" name="paso_1_titulo"/>
          <p:cNvSpPr txBox="1"/>
          <p:nvPr/>
        </p:nvSpPr>
        <p:spPr>
          <a:xfrm>
            <a:off x="1554480" y="268833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 planner recalcula una vez</a:t>
            </a:r>
            <a:endParaRPr lang="en-US" sz="1800" dirty="0"/>
          </a:p>
        </p:txBody>
      </p:sp>
      <p:sp>
        <p:nvSpPr>
          <p:cNvPr id="12" name="paso_1_texto"/>
          <p:cNvSpPr txBox="1"/>
          <p:nvPr/>
        </p:nvSpPr>
        <p:spPr>
          <a:xfrm>
            <a:off x="1554480" y="308152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Dijkstra inversos (uno por refugio) con los zombies del turno: ≈ 3 ms.</a:t>
            </a:r>
            <a:endParaRPr lang="en-US" sz="1400" dirty="0"/>
          </a:p>
        </p:txBody>
      </p:sp>
      <p:sp>
        <p:nvSpPr>
          <p:cNvPr id="13" name="paso_2"/>
          <p:cNvSpPr/>
          <p:nvPr/>
        </p:nvSpPr>
        <p:spPr>
          <a:xfrm>
            <a:off x="548640" y="3785616"/>
            <a:ext cx="64008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paso_2_icono_circulo"/>
          <p:cNvSpPr/>
          <p:nvPr/>
        </p:nvSpPr>
        <p:spPr>
          <a:xfrm>
            <a:off x="749808" y="4005072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aso_2_icono_emoji"/>
          <p:cNvSpPr txBox="1"/>
          <p:nvPr/>
        </p:nvSpPr>
        <p:spPr>
          <a:xfrm>
            <a:off x="749808" y="40050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000" dirty="0"/>
          </a:p>
        </p:txBody>
      </p:sp>
      <p:sp>
        <p:nvSpPr>
          <p:cNvPr id="16" name="paso_2_titulo"/>
          <p:cNvSpPr txBox="1"/>
          <p:nvPr/>
        </p:nvSpPr>
        <p:spPr>
          <a:xfrm>
            <a:off x="1554480" y="389534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200 sobrevivientes piden POST /paso</a:t>
            </a:r>
            <a:endParaRPr lang="en-US" sz="1800" dirty="0"/>
          </a:p>
        </p:txBody>
      </p:sp>
      <p:sp>
        <p:nvSpPr>
          <p:cNvPr id="17" name="paso_2_texto"/>
          <p:cNvSpPr txBox="1"/>
          <p:nvPr/>
        </p:nvSpPr>
        <p:spPr>
          <a:xfrm>
            <a:off x="1554480" y="428853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solo consulta las tablas del turno: ≈ 3 µs de cálculo.</a:t>
            </a:r>
            <a:endParaRPr lang="en-US" sz="1400" dirty="0"/>
          </a:p>
        </p:txBody>
      </p:sp>
      <p:sp>
        <p:nvSpPr>
          <p:cNvPr id="18" name="paso_3"/>
          <p:cNvSpPr/>
          <p:nvPr/>
        </p:nvSpPr>
        <p:spPr>
          <a:xfrm>
            <a:off x="548640" y="4992624"/>
            <a:ext cx="64008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paso_3_icono_circulo"/>
          <p:cNvSpPr/>
          <p:nvPr/>
        </p:nvSpPr>
        <p:spPr>
          <a:xfrm>
            <a:off x="749808" y="5212080"/>
            <a:ext cx="621792" cy="6217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paso_3_icono_emoji"/>
          <p:cNvSpPr txBox="1"/>
          <p:nvPr/>
        </p:nvSpPr>
        <p:spPr>
          <a:xfrm>
            <a:off x="749808" y="5212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2000" dirty="0"/>
          </a:p>
        </p:txBody>
      </p:sp>
      <p:sp>
        <p:nvSpPr>
          <p:cNvPr id="21" name="paso_3_titulo"/>
          <p:cNvSpPr txBox="1"/>
          <p:nvPr/>
        </p:nvSpPr>
        <p:spPr>
          <a:xfrm>
            <a:off x="1554480" y="510235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Mordidas y llegadas</a:t>
            </a:r>
            <a:endParaRPr lang="en-US" sz="1800" dirty="0"/>
          </a:p>
        </p:txBody>
      </p:sp>
      <p:sp>
        <p:nvSpPr>
          <p:cNvPr id="22" name="paso_3_texto"/>
          <p:cNvSpPr txBox="1"/>
          <p:nvPr/>
        </p:nvSpPr>
        <p:spPr>
          <a:xfrm>
            <a:off x="1554480" y="549554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simulador valida cada movimiento y lleva el puntaje de la rúbrica en vivo.</a:t>
            </a:r>
            <a:endParaRPr lang="en-US" sz="1400" dirty="0"/>
          </a:p>
        </p:txBody>
      </p:sp>
      <p:sp>
        <p:nvSpPr>
          <p:cNvPr id="23" name="marco_mapa_vivo"/>
          <p:cNvSpPr/>
          <p:nvPr/>
        </p:nvSpPr>
        <p:spPr>
          <a:xfrm>
            <a:off x="7223760" y="1371600"/>
            <a:ext cx="4389120" cy="4672584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24" name="mapa_vivo" descr="Mapa en vivo durante la ronda 3: zombies por tipo, zonas de horda, rutas, camionetas y refugios con su ocup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206240" cy="3505200"/>
          </a:xfrm>
          <a:prstGeom prst="rect">
            <a:avLst/>
          </a:prstGeom>
        </p:spPr>
      </p:pic>
      <p:sp>
        <p:nvSpPr>
          <p:cNvPr id="25" name="mapa_pie"/>
          <p:cNvSpPr txBox="1"/>
          <p:nvPr/>
        </p:nvSpPr>
        <p:spPr>
          <a:xfrm>
            <a:off x="7452360" y="5105400"/>
            <a:ext cx="39319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del mapa en vivo (ronda 3): zombies, hordas, rutas, camionetas y cupos de refugios.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decide cada paso</a:t>
            </a:r>
            <a:endParaRPr lang="en-US" sz="3400" dirty="0"/>
          </a:p>
        </p:txBody>
      </p:sp>
      <p:sp>
        <p:nvSpPr>
          <p:cNvPr id="3" name="prohibido"/>
          <p:cNvSpPr/>
          <p:nvPr/>
        </p:nvSpPr>
        <p:spPr>
          <a:xfrm>
            <a:off x="548640" y="137160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prohibido_icono_circulo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prohibido_icono_emoji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⛔</a:t>
            </a:r>
            <a:endParaRPr lang="en-US" sz="2100" dirty="0"/>
          </a:p>
        </p:txBody>
      </p:sp>
      <p:sp>
        <p:nvSpPr>
          <p:cNvPr id="6" name="prohibido_titulo"/>
          <p:cNvSpPr txBox="1"/>
          <p:nvPr/>
        </p:nvSpPr>
        <p:spPr>
          <a:xfrm>
            <a:off x="164592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pisa</a:t>
            </a:r>
            <a:endParaRPr lang="en-US" sz="2200" dirty="0"/>
          </a:p>
        </p:txBody>
      </p:sp>
      <p:sp>
        <p:nvSpPr>
          <p:cNvPr id="7" name="prohibido_lista"/>
          <p:cNvSpPr txBox="1"/>
          <p:nvPr/>
        </p:nvSpPr>
        <p:spPr>
          <a:xfrm>
            <a:off x="868680" y="25146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con zombie visible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horda y TODOS sus vecinos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calle cerrada (puente colapsado, avenida bloqueada)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Cruzarse con un zombie por la misma calle (incluye los 2 pasos de un corredor)</a:t>
            </a:r>
            <a:endParaRPr lang="en-US" sz="1800" dirty="0"/>
          </a:p>
        </p:txBody>
      </p:sp>
      <p:sp>
        <p:nvSpPr>
          <p:cNvPr id="8" name="costo"/>
          <p:cNvSpPr/>
          <p:nvPr/>
        </p:nvSpPr>
        <p:spPr>
          <a:xfrm>
            <a:off x="6172200" y="137160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9" name="costo_icono_circulo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sto_icono_emoji"/>
          <p:cNvSpPr txBox="1"/>
          <p:nvPr/>
        </p:nvSpPr>
        <p:spPr>
          <a:xfrm>
            <a:off x="6446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🧭</a:t>
            </a:r>
            <a:endParaRPr lang="en-US" sz="2100" dirty="0"/>
          </a:p>
        </p:txBody>
      </p:sp>
      <p:sp>
        <p:nvSpPr>
          <p:cNvPr id="11" name="costo_titulo"/>
          <p:cNvSpPr txBox="1"/>
          <p:nvPr/>
        </p:nvSpPr>
        <p:spPr>
          <a:xfrm>
            <a:off x="726948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Elige el menor costo</a:t>
            </a:r>
            <a:endParaRPr lang="en-US" sz="2200" dirty="0"/>
          </a:p>
        </p:txBody>
      </p:sp>
      <p:sp>
        <p:nvSpPr>
          <p:cNvPr id="12" name="costo_lista"/>
          <p:cNvSpPr txBox="1"/>
          <p:nvPr/>
        </p:nvSpPr>
        <p:spPr>
          <a:xfrm>
            <a:off x="6492240" y="25146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÷ velocidad del tipo de calle (avenida 50, calle 30, puente 40 km/h)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 s por intersección: cada calle es un turno (eficiencia sin zombies 0.86 → 0.98)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penalización solo en las TRAMPAS: donde un zombie puede caer el próximo turno sin dejar salida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0 mordidas evitables en rondas completas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Resultados medidos, no prometidos</a:t>
            </a:r>
            <a:endParaRPr lang="en-US" sz="3400" dirty="0"/>
          </a:p>
        </p:txBody>
      </p:sp>
      <p:sp>
        <p:nvSpPr>
          <p:cNvPr id="3" name="puntaje_valor"/>
          <p:cNvSpPr txBox="1"/>
          <p:nvPr/>
        </p:nvSpPr>
        <p:spPr>
          <a:xfrm>
            <a:off x="54864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9.54</a:t>
            </a:r>
            <a:endParaRPr lang="en-US" sz="4800" dirty="0"/>
          </a:p>
        </p:txBody>
      </p:sp>
      <p:sp>
        <p:nvSpPr>
          <p:cNvPr id="4" name="puntaje_etiqueta"/>
          <p:cNvSpPr txBox="1"/>
          <p:nvPr/>
        </p:nvSpPr>
        <p:spPr>
          <a:xfrm>
            <a:off x="548640" y="2240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 en la rúbrica (hasta 9.61): 3 rondas en ARM64 con 0.5 vCPU (CI)</a:t>
            </a:r>
            <a:endParaRPr lang="en-US" sz="1400" dirty="0"/>
          </a:p>
        </p:txBody>
      </p:sp>
      <p:sp>
        <p:nvSpPr>
          <p:cNvPr id="5" name="p95_valor"/>
          <p:cNvSpPr txBox="1"/>
          <p:nvPr/>
        </p:nvSpPr>
        <p:spPr>
          <a:xfrm>
            <a:off x="329184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 ms</a:t>
            </a:r>
            <a:endParaRPr lang="en-US" sz="4800" dirty="0"/>
          </a:p>
        </p:txBody>
      </p:sp>
      <p:sp>
        <p:nvSpPr>
          <p:cNvPr id="6" name="p95_etiqueta"/>
          <p:cNvSpPr txBox="1"/>
          <p:nvPr/>
        </p:nvSpPr>
        <p:spPr>
          <a:xfrm>
            <a:off x="3291840" y="2240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de POST /paso en R3 con 200 internos, 200 externos y 30 visores a la vez (umbral 150 ms)</a:t>
            </a:r>
            <a:endParaRPr lang="en-US" sz="1400" dirty="0"/>
          </a:p>
        </p:txBody>
      </p:sp>
      <p:sp>
        <p:nvSpPr>
          <p:cNvPr id="7" name="errores_valor"/>
          <p:cNvSpPr txBox="1"/>
          <p:nvPr/>
        </p:nvSpPr>
        <p:spPr>
          <a:xfrm>
            <a:off x="548640" y="32004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0 %</a:t>
            </a:r>
            <a:endParaRPr lang="en-US" sz="4800" dirty="0"/>
          </a:p>
        </p:txBody>
      </p:sp>
      <p:sp>
        <p:nvSpPr>
          <p:cNvPr id="8" name="errores_etiqueta"/>
          <p:cNvSpPr txBox="1"/>
          <p:nvPr/>
        </p:nvSpPr>
        <p:spPr>
          <a:xfrm>
            <a:off x="548640" y="4069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o respuestas de más de 500 ms</a:t>
            </a:r>
            <a:endParaRPr lang="en-US" sz="1400" dirty="0"/>
          </a:p>
        </p:txBody>
      </p:sp>
      <p:sp>
        <p:nvSpPr>
          <p:cNvPr id="9" name="supervivencia_valor"/>
          <p:cNvSpPr txBox="1"/>
          <p:nvPr/>
        </p:nvSpPr>
        <p:spPr>
          <a:xfrm>
            <a:off x="3291840" y="32004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98 %</a:t>
            </a:r>
            <a:endParaRPr lang="en-US" sz="4800" dirty="0"/>
          </a:p>
        </p:txBody>
      </p:sp>
      <p:sp>
        <p:nvSpPr>
          <p:cNvPr id="10" name="supervivencia_etiqueta"/>
          <p:cNvSpPr txBox="1"/>
          <p:nvPr/>
        </p:nvSpPr>
        <p:spPr>
          <a:xfrm>
            <a:off x="3291840" y="4069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en la ronda 3 de 150 turnos: 200 a la vez, todos los zombies</a:t>
            </a:r>
            <a:endParaRPr lang="en-US" sz="1400" dirty="0"/>
          </a:p>
        </p:txBody>
      </p:sp>
      <p:sp>
        <p:nvSpPr>
          <p:cNvPr id="11" name="resultados_pie"/>
          <p:cNvSpPr txBox="1"/>
          <p:nvPr/>
        </p:nvSpPr>
        <p:spPr>
          <a:xfrm>
            <a:off x="548640" y="512064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de 150 turnos, grafo de Manta, 6 semillas: supervivencia+eficiencia 6.54 de 7 (tools/ab_planner.py).</a:t>
            </a:r>
            <a:endParaRPr lang="en-US" sz="1400" dirty="0"/>
          </a:p>
        </p:txBody>
      </p:sp>
      <p:graphicFrame>
        <p:nvGraphicFramePr>
          <p:cNvPr id="12" name="grafico_ab" descr=""/>
          <p:cNvGraphicFramePr/>
          <p:nvPr/>
        </p:nvGraphicFramePr>
        <p:xfrm>
          <a:off x="6172200" y="1325880"/>
          <a:ext cx="5440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Nivel PRO, con su efecto medido</a:t>
            </a:r>
            <a:endParaRPr lang="en-US" sz="3400" dirty="0"/>
          </a:p>
        </p:txBody>
      </p:sp>
      <p:sp>
        <p:nvSpPr>
          <p:cNvPr id="3" name="pro_0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4" name="pro_0_icono_circulo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pro_0_icono_emoji"/>
          <p:cNvSpPr txBox="1"/>
          <p:nvPr/>
        </p:nvSpPr>
        <p:spPr>
          <a:xfrm>
            <a:off x="8686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🏃</a:t>
            </a:r>
            <a:endParaRPr lang="en-US" sz="2400" dirty="0"/>
          </a:p>
        </p:txBody>
      </p:sp>
      <p:sp>
        <p:nvSpPr>
          <p:cNvPr id="6" name="pro_0_titulo"/>
          <p:cNvSpPr txBox="1"/>
          <p:nvPr/>
        </p:nvSpPr>
        <p:spPr>
          <a:xfrm>
            <a:off x="86868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Predicción de corredores</a:t>
            </a:r>
            <a:endParaRPr lang="en-US" sz="2000" dirty="0"/>
          </a:p>
        </p:txBody>
      </p:sp>
      <p:sp>
        <p:nvSpPr>
          <p:cNvPr id="7" name="pro_0_texto"/>
          <p:cNvSpPr txBox="1"/>
          <p:nvPr/>
        </p:nvSpPr>
        <p:spPr>
          <a:xfrm>
            <a:off x="86868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su persecución (2 calles por turno hacia el más cercano a ≤ 3) y evita las trampas.</a:t>
            </a:r>
            <a:endParaRPr lang="en-US" sz="1500" dirty="0"/>
          </a:p>
        </p:txBody>
      </p:sp>
      <p:sp>
        <p:nvSpPr>
          <p:cNvPr id="8" name="pro_0_dato"/>
          <p:cNvSpPr txBox="1"/>
          <p:nvPr/>
        </p:nvSpPr>
        <p:spPr>
          <a:xfrm>
            <a:off x="868680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−19 % mordidas, eficiencia 0.80 → 0.82</a:t>
            </a:r>
            <a:endParaRPr lang="en-US" sz="1600" dirty="0"/>
          </a:p>
        </p:txBody>
      </p:sp>
      <p:sp>
        <p:nvSpPr>
          <p:cNvPr id="9" name="pro_1"/>
          <p:cNvSpPr/>
          <p:nvPr/>
        </p:nvSpPr>
        <p:spPr>
          <a:xfrm>
            <a:off x="4325112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0" name="pro_1_icono_circulo"/>
          <p:cNvSpPr/>
          <p:nvPr/>
        </p:nvSpPr>
        <p:spPr>
          <a:xfrm>
            <a:off x="4645152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pro_1_icono_emoji"/>
          <p:cNvSpPr txBox="1"/>
          <p:nvPr/>
        </p:nvSpPr>
        <p:spPr>
          <a:xfrm>
            <a:off x="4645152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2400" dirty="0"/>
          </a:p>
        </p:txBody>
      </p:sp>
      <p:sp>
        <p:nvSpPr>
          <p:cNvPr id="12" name="pro_1_titulo"/>
          <p:cNvSpPr txBox="1"/>
          <p:nvPr/>
        </p:nvSpPr>
        <p:spPr>
          <a:xfrm>
            <a:off x="4645152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Capacidad de refugios</a:t>
            </a:r>
            <a:endParaRPr lang="en-US" sz="2000" dirty="0"/>
          </a:p>
        </p:txBody>
      </p:sp>
      <p:sp>
        <p:nvSpPr>
          <p:cNvPr id="13" name="pro_1_texto"/>
          <p:cNvSpPr txBox="1"/>
          <p:nvPr/>
        </p:nvSpPr>
        <p:spPr>
          <a:xfrm>
            <a:off x="4645152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refugio tiene cupo y evacúa por turno; el planner reparte según el cupo a la hora de llegada.</a:t>
            </a:r>
            <a:endParaRPr lang="en-US" sz="1500" dirty="0"/>
          </a:p>
        </p:txBody>
      </p:sp>
      <p:sp>
        <p:nvSpPr>
          <p:cNvPr id="14" name="pro_1_dato"/>
          <p:cNvSpPr txBox="1"/>
          <p:nvPr/>
        </p:nvSpPr>
        <p:spPr>
          <a:xfrm>
            <a:off x="4645152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−84 % llegadas a refugios llenos (R2+R3)</a:t>
            </a:r>
            <a:endParaRPr lang="en-US" sz="1600" dirty="0"/>
          </a:p>
        </p:txBody>
      </p:sp>
      <p:sp>
        <p:nvSpPr>
          <p:cNvPr id="15" name="pro_2"/>
          <p:cNvSpPr/>
          <p:nvPr/>
        </p:nvSpPr>
        <p:spPr>
          <a:xfrm>
            <a:off x="8101584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6" name="pro_2_icono_circulo"/>
          <p:cNvSpPr/>
          <p:nvPr/>
        </p:nvSpPr>
        <p:spPr>
          <a:xfrm>
            <a:off x="8421624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pro_2_icono_emoji"/>
          <p:cNvSpPr txBox="1"/>
          <p:nvPr/>
        </p:nvSpPr>
        <p:spPr>
          <a:xfrm>
            <a:off x="842162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🚐</a:t>
            </a:r>
            <a:endParaRPr lang="en-US" sz="2400" dirty="0"/>
          </a:p>
        </p:txBody>
      </p:sp>
      <p:sp>
        <p:nvSpPr>
          <p:cNvPr id="18" name="pro_2_titulo"/>
          <p:cNvSpPr txBox="1"/>
          <p:nvPr/>
        </p:nvSpPr>
        <p:spPr>
          <a:xfrm>
            <a:off x="8421624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Flota de rescate</a:t>
            </a:r>
            <a:endParaRPr lang="en-US" sz="2000" dirty="0"/>
          </a:p>
        </p:txBody>
      </p:sp>
      <p:sp>
        <p:nvSpPr>
          <p:cNvPr id="19" name="pro_2_texto"/>
          <p:cNvSpPr txBox="1"/>
          <p:nvPr/>
        </p:nvSpPr>
        <p:spPr>
          <a:xfrm>
            <a:off x="8421624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camionetas, 2 calles por turno, 4 plazas: el servidor decide a quién recoger y en qué orden.</a:t>
            </a:r>
            <a:endParaRPr lang="en-US" sz="1500" dirty="0"/>
          </a:p>
        </p:txBody>
      </p:sp>
      <p:sp>
        <p:nvSpPr>
          <p:cNvPr id="20" name="pro_2_dato"/>
          <p:cNvSpPr txBox="1"/>
          <p:nvPr/>
        </p:nvSpPr>
        <p:spPr>
          <a:xfrm>
            <a:off x="8421624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≈ 450 rescates por ronda, eficiencia 0.70 → 0.74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AWS barato, seguro y sin arranques en frío</a:t>
            </a:r>
            <a:endParaRPr lang="en-US" sz="3400" dirty="0"/>
          </a:p>
        </p:txBody>
      </p:sp>
      <p:sp>
        <p:nvSpPr>
          <p:cNvPr id="3" name="marco_arquitectura"/>
          <p:cNvSpPr/>
          <p:nvPr/>
        </p:nvSpPr>
        <p:spPr>
          <a:xfrm>
            <a:off x="548640" y="1325880"/>
            <a:ext cx="7178040" cy="4617720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4" name="arquitectura" descr="Arquitectura en AWS: CloudFront, S3, ALB, ECS Fargate, DynamoDB, SSM, Cloud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995160" cy="4370832"/>
          </a:xfrm>
          <a:prstGeom prst="rect">
            <a:avLst/>
          </a:prstGeom>
        </p:spPr>
      </p:pic>
      <p:sp>
        <p:nvSpPr>
          <p:cNvPr id="5" name="costo_mes_valor"/>
          <p:cNvSpPr txBox="1"/>
          <p:nvPr/>
        </p:nvSpPr>
        <p:spPr>
          <a:xfrm>
            <a:off x="800100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41.86 USD</a:t>
            </a:r>
            <a:endParaRPr lang="en-US" sz="4800" dirty="0"/>
          </a:p>
        </p:txBody>
      </p:sp>
      <p:sp>
        <p:nvSpPr>
          <p:cNvPr id="6" name="costo_mes_etiqueta"/>
          <p:cNvSpPr txBox="1"/>
          <p:nvPr/>
        </p:nvSpPr>
        <p:spPr>
          <a:xfrm>
            <a:off x="8001000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24/7 · ≈ 6.90 USD los 5 días del evento</a:t>
            </a:r>
            <a:endParaRPr lang="en-US" sz="1400" dirty="0"/>
          </a:p>
        </p:txBody>
      </p:sp>
      <p:sp>
        <p:nvSpPr>
          <p:cNvPr id="7" name="aws_lista"/>
          <p:cNvSpPr txBox="1"/>
          <p:nvPr/>
        </p:nvSpPr>
        <p:spPr>
          <a:xfrm>
            <a:off x="8001000" y="31546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Fargate, no Lambda: estado en memoria y sin arranques en frío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NAT, API Gateway ni Redis: ~40 USD/mes menos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keys en SSM: la del jurado solo sirve para /paso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individual con MFA y Budget de 50 USD con alertas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zombies a tsunamis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motor sirve para evacuar la costa de Manabí: cambia «zombie» por «zona inundada».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d160b5kavxovby.cloudfront.net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github.com/TheDarw1n/menincloud_spookython-2026</a:t>
            </a:r>
            <a:endParaRPr lang="en-US" sz="2000" dirty="0"/>
          </a:p>
        </p:txBody>
      </p:sp>
      <p:sp>
        <p:nvSpPr>
          <p:cNvPr id="4" name="proximos"/>
          <p:cNvSpPr/>
          <p:nvPr/>
        </p:nvSpPr>
        <p:spPr>
          <a:xfrm>
            <a:off x="7178040" y="1463040"/>
            <a:ext cx="452628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proximos_titulo"/>
          <p:cNvSpPr txBox="1"/>
          <p:nvPr/>
        </p:nvSpPr>
        <p:spPr>
          <a:xfrm>
            <a:off x="749808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sigue</a:t>
            </a:r>
            <a:endParaRPr lang="en-US" sz="2200" dirty="0"/>
          </a:p>
        </p:txBody>
      </p:sp>
      <p:sp>
        <p:nvSpPr>
          <p:cNvPr id="6" name="proximos_lista"/>
          <p:cNvSpPr txBox="1"/>
          <p:nvPr/>
        </p:nvSpPr>
        <p:spPr>
          <a:xfrm>
            <a:off x="7498080" y="242316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inundación reales de la Secretaría de Gestión de Riesgos en vez de zombies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réplicas compartiendo las tablas de cada turno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que guía a cada persona paso a paso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ta Zombie Noche">
  <a:themeElements>
    <a:clrScheme name="Manta Zombie Noche">
      <a:dk1>
        <a:srgbClr val="0B0B1A"/>
      </a:dk1>
      <a:lt1>
        <a:srgbClr val="FFFFFF"/>
      </a:lt1>
      <a:dk2>
        <a:srgbClr val="1E1A3A"/>
      </a:dk2>
      <a:lt2>
        <a:srgbClr val="D9D3F5"/>
      </a:lt2>
      <a:accent1>
        <a:srgbClr val="F6AD55"/>
      </a:accent1>
      <a:accent2>
        <a:srgbClr val="8B5CF6"/>
      </a:accent2>
      <a:accent3>
        <a:srgbClr val="34D399"/>
      </a:accent3>
      <a:accent4>
        <a:srgbClr val="F87171"/>
      </a:accent4>
      <a:accent5>
        <a:srgbClr val="60A5FA"/>
      </a:accent5>
      <a:accent6>
        <a:srgbClr val="FBBF24"/>
      </a:accent6>
      <a:hlink>
        <a:srgbClr val="F6AD55"/>
      </a:hlink>
      <a:folHlink>
        <a:srgbClr val="C4B5FD"/>
      </a:folHlink>
    </a:clrScheme>
    <a:fontScheme name="Manta Zombie Noch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Escape de Manta Zombie · Pitch Track A</dc:title>
  <dc:subject>Spookython 2026 · Track A</dc:subject>
  <dc:creator>Jonathan Cruz, Kenneth Salazar, Jostin Moran</dc:creator>
  <cp:lastModifiedBy>Jonathan Cruz, Kenneth Salazar, Jostin Moran</cp:lastModifiedBy>
  <cp:revision>1</cp:revision>
  <dcterms:created xsi:type="dcterms:W3CDTF">2026-10-27T18:30:11Z</dcterms:created>
  <dcterms:modified xsi:type="dcterms:W3CDTF">2026-10-27T18:30:11Z</dcterms:modified>
</cp:coreProperties>
</file>
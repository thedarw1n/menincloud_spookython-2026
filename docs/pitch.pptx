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b6ce3d4f-4e1c-9710-0fbc-24f8ee90095f}">
          <p14:sldIdLst>
            <p14:sldId id="256"/>
          </p14:sldIdLst>
        </p14:section>
        <p14:section name="Problema" id="{13acfd26-7338-2d4d-fcb8-4b0c530dae41}">
          <p14:sldIdLst>
            <p14:sldId id="257"/>
          </p14:sldIdLst>
        </p14:section>
        <p14:section name="Solución" id="{c334b752-6421-05c9-6f80-aad5df9dfa87}">
          <p14:sldIdLst>
            <p14:sldId id="258"/>
            <p14:sldId id="259"/>
          </p14:sldIdLst>
        </p14:section>
        <p14:section name="Resultados" id="{75091893-371f-4258-8eb3-121a72afe20e}">
          <p14:sldIdLst>
            <p14:sldId id="260"/>
            <p14:sldId id="261"/>
          </p14:sldIdLst>
        </p14:section>
        <p14:section name="AWS" id="{0fb498be-3fa7-3559-d4a2-0b9b87c5bc11}">
          <p14:sldIdLst>
            <p14:sldId id="262"/>
          </p14:sldIdLst>
        </p14:section>
        <p14:section name="Cierre" id="{a073a4e9-48f4-c04f-b49e-d610494147ec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FFFFFF"/>
                </a:solidFill>
                <a:latin typeface="+mn-lt"/>
              </a:rPr>
              <a:t>A/B: producción menos una pieza (de 7)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Supervivencia + eficiencia (de 7)</c:v>
                </c:pt>
              </c:strCache>
            </c:strRef>
          </c:tx>
          <c:spPr>
            <a:solidFill>
              <a:srgbClr val="8B5CF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6AD55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Sin PRO ni costo por cruce</c:v>
                  </c:pt>
                  <c:pt idx="1">
                    <c:v>Sin costo por cruce</c:v>
                  </c:pt>
                  <c:pt idx="2">
                    <c:v>Sin los 3 PRO</c:v>
                  </c:pt>
                  <c:pt idx="3">
                    <c:v>Sin flota</c:v>
                  </c:pt>
                  <c:pt idx="4">
                    <c:v>Sin predicción</c:v>
                  </c:pt>
                  <c:pt idx="5">
                    <c:v>Producción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6.282</c:v>
                </c:pt>
                <c:pt idx="1">
                  <c:v>6.339</c:v>
                </c:pt>
                <c:pt idx="2">
                  <c:v>6.473</c:v>
                </c:pt>
                <c:pt idx="3">
                  <c:v>6.478</c:v>
                </c:pt>
                <c:pt idx="4">
                  <c:v>6.502</c:v>
                </c:pt>
                <c:pt idx="5">
                  <c:v>6.539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.7"/>
          <c:min val="6"/>
        </c:scaling>
        <c:delete val="0"/>
        <c:axPos val="b"/>
        <c:majorGridlines>
          <c:spPr>
            <a:ln w="9525" cap="flat">
              <a:solidFill>
                <a:srgbClr val="3A345E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D9D3F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E1A3A"/>
        </a:solidFill>
        <a:ln>
          <a:noFill/>
        </a:ln>
        <a:effectLst/>
      </c:spPr>
    </c:plotArea>
    <c:plotVisOnly val="1"/>
    <c:dispBlanksAs val="span"/>
  </c:chart>
  <c:spPr>
    <a:solidFill>
      <a:srgbClr val="1E1A3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31 de octubre: Manta amanece infestada. Hay sobrevivientes atrapados en Tarqui, Los Esteros, Barbasquillo y Jocay, y nuestro sistema es la única radio que les queda: les dice, paso a paso, por dónde ir. Somos Jonathan, Kenneth y Jostin, y en 5 minutos les mostramos cómo lo resolvimos y cuánto puntúa.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reto no es Dijkstra: es que el mapa cambia mientras la gente se mueve. Es el núcleo de Uber, de las apps de delivery y de una ruta de evacuación ante tsunamis aquí en Manabí. Si cambiamos zombie por calle cerrada o zona inundada, el mismo motor sirve.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turno: primero se mueven los zombies; el planner recalcula UNA sola vez, no por petición: un Dijkstra inverso por refugio. Después los 200 sobrevivientes preguntan POST /paso y cada respuesta es solo una consulta a esas tablas. Al final el simulador valida, cuenta mordidas y llegadas, y el mapa se actualiza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Reglas duras: nunca pisa un zombie, ni la horda ni sus vecinos, ni una calle cerrada, y nunca se cruza con un zombie por la misma calle. Entre lo permitido elige el menor costo: distancia y tipo de calle, más 30 segundos por intersección, porque en el juego cada calle es un turno. Y un test juega rondas completas y exige cero mordidas evitables.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esto está medido. En la CI de GitHub levantamos el contenedor en ARM64, como Graviton en Fargate, con 0.5 vCPU, y jugamos las 3 rondas por HTTP: 9.61 de 10, p95 de 14 ms con 200 a la vez y cero errores. A la derecha, el A/B: a la versión final le quitamos una pieza a la vez y siempre empeora; lo que más pesa es el costo por cruce, y los tres PRO juntos suman 0.07.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Hicimos los tres extras y medimos cada uno en el mapa real. Predicción: replicamos la persecución del corredor y evitamos solo las trampas, no cualquier cercanía, porque alejarse de todo alarga las rutas y termina mordiendo más. Capacidad: repartimos según el cupo que tendrá cada refugio cuando llegues. Tiene un costo que medimos: desviar a alguien a un refugio más lejano lo expone más y en la ronda 3 suben las mordidas; lo dejamos activo porque en una evacuación real un refugio lleno no es seguro. Flota: cinco camionetas que el servidor despacha cada turno.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arquitectura: CloudFront, S3 para el mapa, un ALB y una sola tarea Fargate ARM con el estado en memoria, así no hay arranques en frío ni estado repartido en Lambdas. Sin NAT, sin API Gateway, sin Redis: 42 dólares al mes encendido todo el tiempo y unos 7 dólares durante el evento. Seguridad: dos keys, la del jurado solo sirve para pedir pasos, y usuarios IAM con MFA.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Cerramos donde empezamos: esto no es solo un juego. Con zonas de inundación reales en vez de zombies, es una ruta de evacuación para Manabí. El sistema está desplegado y todo el código, los tests y las mediciones están en el repositorio. ¡Gracias! ¿Preguntas?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63093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63093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Escape de Manta Zombie · Spookython 2026 · Track 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6309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Escape de Manta Zombie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6309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motor de rutas en AWS que esquiva zombies en tiempo real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 · Spookython 2026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Jonathan Cruz · Kenneth Salazar · Jostin Moran</a:t>
            </a:r>
            <a:endParaRPr lang="en-US" sz="2000" dirty="0"/>
          </a:p>
        </p:txBody>
      </p:sp>
      <p:sp>
        <p:nvSpPr>
          <p:cNvPr id="4" name="marco_mapa"/>
          <p:cNvSpPr/>
          <p:nvPr/>
        </p:nvSpPr>
        <p:spPr>
          <a:xfrm>
            <a:off x="7178040" y="822960"/>
            <a:ext cx="4526280" cy="5212080"/>
          </a:xfrm>
          <a:prstGeom prst="roundRect">
            <a:avLst>
              <a:gd name="adj" fmla="val 3030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pic>
        <p:nvPicPr>
          <p:cNvPr id="5" name="grafo_manta" descr="Grafo vial de Manta con barrios y refugi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280160"/>
            <a:ext cx="4343400" cy="3090672"/>
          </a:xfrm>
          <a:prstGeom prst="rect">
            <a:avLst/>
          </a:prstGeom>
        </p:spPr>
      </p:pic>
      <p:sp>
        <p:nvSpPr>
          <p:cNvPr id="6" name="pie_mapa"/>
          <p:cNvSpPr txBox="1"/>
          <p:nvPr/>
        </p:nvSpPr>
        <p:spPr>
          <a:xfrm>
            <a:off x="7406640" y="457200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Manta real: 307 intersecciones de OpenStreetMap, 4 barrios atrapados y 4 refugios en zonas altas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El mapa cambia mientras te mueves</a:t>
            </a:r>
            <a:endParaRPr lang="en-US" sz="3400" dirty="0"/>
          </a:p>
        </p:txBody>
      </p:sp>
      <p:sp>
        <p:nvSpPr>
          <p:cNvPr id="3" name="tesis"/>
          <p:cNvSpPr txBox="1"/>
          <p:nvPr/>
        </p:nvSpPr>
        <p:spPr>
          <a:xfrm>
            <a:off x="548640" y="13258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una ruta es fácil. Recalcularla cada 2 segundos para 200 personas a la vez, con zombies que caminan, corren y bloquean calles, en menos de 500 ms, no lo es.</a:t>
            </a:r>
            <a:endParaRPr lang="en-US" sz="2000" dirty="0"/>
          </a:p>
        </p:txBody>
      </p:sp>
      <p:sp>
        <p:nvSpPr>
          <p:cNvPr id="4" name="uso_0"/>
          <p:cNvSpPr/>
          <p:nvPr/>
        </p:nvSpPr>
        <p:spPr>
          <a:xfrm>
            <a:off x="548640" y="2514600"/>
            <a:ext cx="3520440" cy="288036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5" name="uso_0_icono_circulo"/>
          <p:cNvSpPr/>
          <p:nvPr/>
        </p:nvSpPr>
        <p:spPr>
          <a:xfrm>
            <a:off x="868680" y="28346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uso_0_icono_emoji"/>
          <p:cNvSpPr txBox="1"/>
          <p:nvPr/>
        </p:nvSpPr>
        <p:spPr>
          <a:xfrm>
            <a:off x="868680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🛵</a:t>
            </a:r>
            <a:endParaRPr lang="en-US" sz="2400" dirty="0"/>
          </a:p>
        </p:txBody>
      </p:sp>
      <p:sp>
        <p:nvSpPr>
          <p:cNvPr id="7" name="uso_0_titulo"/>
          <p:cNvSpPr txBox="1"/>
          <p:nvPr/>
        </p:nvSpPr>
        <p:spPr>
          <a:xfrm>
            <a:off x="86868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Delivery y taxis</a:t>
            </a:r>
            <a:endParaRPr lang="en-US" sz="2000" dirty="0"/>
          </a:p>
        </p:txBody>
      </p:sp>
      <p:sp>
        <p:nvSpPr>
          <p:cNvPr id="8" name="uso_0_texto"/>
          <p:cNvSpPr txBox="1"/>
          <p:nvPr/>
        </p:nvSpPr>
        <p:spPr>
          <a:xfrm>
            <a:off x="868680" y="425196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ruta se rehace con cada calle cerrada o accidente, para cientos de pedidos a la vez.</a:t>
            </a:r>
            <a:endParaRPr lang="en-US" sz="1500" dirty="0"/>
          </a:p>
        </p:txBody>
      </p:sp>
      <p:sp>
        <p:nvSpPr>
          <p:cNvPr id="9" name="uso_1"/>
          <p:cNvSpPr/>
          <p:nvPr/>
        </p:nvSpPr>
        <p:spPr>
          <a:xfrm>
            <a:off x="4325112" y="2514600"/>
            <a:ext cx="3520440" cy="288036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0" name="uso_1_icono_circulo"/>
          <p:cNvSpPr/>
          <p:nvPr/>
        </p:nvSpPr>
        <p:spPr>
          <a:xfrm>
            <a:off x="4645152" y="283464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1" name="uso_1_icono_emoji"/>
          <p:cNvSpPr txBox="1"/>
          <p:nvPr/>
        </p:nvSpPr>
        <p:spPr>
          <a:xfrm>
            <a:off x="4645152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🚑</a:t>
            </a:r>
            <a:endParaRPr lang="en-US" sz="2400" dirty="0"/>
          </a:p>
        </p:txBody>
      </p:sp>
      <p:sp>
        <p:nvSpPr>
          <p:cNvPr id="12" name="uso_1_titulo"/>
          <p:cNvSpPr txBox="1"/>
          <p:nvPr/>
        </p:nvSpPr>
        <p:spPr>
          <a:xfrm>
            <a:off x="4645152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Ambulancias</a:t>
            </a:r>
            <a:endParaRPr lang="en-US" sz="2000" dirty="0"/>
          </a:p>
        </p:txBody>
      </p:sp>
      <p:sp>
        <p:nvSpPr>
          <p:cNvPr id="13" name="uso_1_texto"/>
          <p:cNvSpPr txBox="1"/>
          <p:nvPr/>
        </p:nvSpPr>
        <p:spPr>
          <a:xfrm>
            <a:off x="4645152" y="425196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Despachar la unidad correcta y esquivar el tráfico en vivo: segundos que salvan vidas.</a:t>
            </a:r>
            <a:endParaRPr lang="en-US" sz="1500" dirty="0"/>
          </a:p>
        </p:txBody>
      </p:sp>
      <p:sp>
        <p:nvSpPr>
          <p:cNvPr id="14" name="uso_2"/>
          <p:cNvSpPr/>
          <p:nvPr/>
        </p:nvSpPr>
        <p:spPr>
          <a:xfrm>
            <a:off x="8101584" y="2514600"/>
            <a:ext cx="3520440" cy="288036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5" name="uso_2_icono_circulo"/>
          <p:cNvSpPr/>
          <p:nvPr/>
        </p:nvSpPr>
        <p:spPr>
          <a:xfrm>
            <a:off x="8421624" y="283464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6" name="uso_2_icono_emoji"/>
          <p:cNvSpPr txBox="1"/>
          <p:nvPr/>
        </p:nvSpPr>
        <p:spPr>
          <a:xfrm>
            <a:off x="8421624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🌊</a:t>
            </a:r>
            <a:endParaRPr lang="en-US" sz="2400" dirty="0"/>
          </a:p>
        </p:txBody>
      </p:sp>
      <p:sp>
        <p:nvSpPr>
          <p:cNvPr id="17" name="uso_2_titulo"/>
          <p:cNvSpPr txBox="1"/>
          <p:nvPr/>
        </p:nvSpPr>
        <p:spPr>
          <a:xfrm>
            <a:off x="8421624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Evacuación</a:t>
            </a:r>
            <a:endParaRPr lang="en-US" sz="2000" dirty="0"/>
          </a:p>
        </p:txBody>
      </p:sp>
      <p:sp>
        <p:nvSpPr>
          <p:cNvPr id="18" name="uso_2_texto"/>
          <p:cNvSpPr txBox="1"/>
          <p:nvPr/>
        </p:nvSpPr>
        <p:spPr>
          <a:xfrm>
            <a:off x="8421624" y="425196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Tsunamis en la costa de Manabí: cambia «zombie» por «zona inundada» y es una ruta de evacuación.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Manta real, cada 2 segundos</a:t>
            </a:r>
            <a:endParaRPr lang="en-US" sz="3400" dirty="0"/>
          </a:p>
        </p:txBody>
      </p:sp>
      <p:sp>
        <p:nvSpPr>
          <p:cNvPr id="3" name="paso_0"/>
          <p:cNvSpPr/>
          <p:nvPr/>
        </p:nvSpPr>
        <p:spPr>
          <a:xfrm>
            <a:off x="548640" y="1371600"/>
            <a:ext cx="64008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4" name="paso_0_icono_circulo"/>
          <p:cNvSpPr/>
          <p:nvPr/>
        </p:nvSpPr>
        <p:spPr>
          <a:xfrm>
            <a:off x="749808" y="1591056"/>
            <a:ext cx="621792" cy="621792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" name="paso_0_icono_emoji"/>
          <p:cNvSpPr txBox="1"/>
          <p:nvPr/>
        </p:nvSpPr>
        <p:spPr>
          <a:xfrm>
            <a:off x="749808" y="159105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🧟</a:t>
            </a:r>
            <a:endParaRPr lang="en-US" sz="2000" dirty="0"/>
          </a:p>
        </p:txBody>
      </p:sp>
      <p:sp>
        <p:nvSpPr>
          <p:cNvPr id="6" name="paso_0_titulo"/>
          <p:cNvSpPr txBox="1"/>
          <p:nvPr/>
        </p:nvSpPr>
        <p:spPr>
          <a:xfrm>
            <a:off x="1554480" y="1481328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Se mueven los zombies</a:t>
            </a:r>
            <a:endParaRPr lang="en-US" sz="1800" dirty="0"/>
          </a:p>
        </p:txBody>
      </p:sp>
      <p:sp>
        <p:nvSpPr>
          <p:cNvPr id="7" name="paso_0_texto"/>
          <p:cNvSpPr txBox="1"/>
          <p:nvPr/>
        </p:nvSpPr>
        <p:spPr>
          <a:xfrm>
            <a:off x="1554480" y="187452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Caminantes, corredores que persiguen, hordas que bloquean y dormidos invisibles.</a:t>
            </a:r>
            <a:endParaRPr lang="en-US" sz="1400" dirty="0"/>
          </a:p>
        </p:txBody>
      </p:sp>
      <p:sp>
        <p:nvSpPr>
          <p:cNvPr id="8" name="paso_1"/>
          <p:cNvSpPr/>
          <p:nvPr/>
        </p:nvSpPr>
        <p:spPr>
          <a:xfrm>
            <a:off x="548640" y="2578608"/>
            <a:ext cx="64008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9" name="paso_1_icono_circulo"/>
          <p:cNvSpPr/>
          <p:nvPr/>
        </p:nvSpPr>
        <p:spPr>
          <a:xfrm>
            <a:off x="749808" y="2798064"/>
            <a:ext cx="621792" cy="62179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paso_1_icono_emoji"/>
          <p:cNvSpPr txBox="1"/>
          <p:nvPr/>
        </p:nvSpPr>
        <p:spPr>
          <a:xfrm>
            <a:off x="749808" y="279806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🧠</a:t>
            </a:r>
            <a:endParaRPr lang="en-US" sz="2000" dirty="0"/>
          </a:p>
        </p:txBody>
      </p:sp>
      <p:sp>
        <p:nvSpPr>
          <p:cNvPr id="11" name="paso_1_titulo"/>
          <p:cNvSpPr txBox="1"/>
          <p:nvPr/>
        </p:nvSpPr>
        <p:spPr>
          <a:xfrm>
            <a:off x="1554480" y="2688336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El planner recalcula una vez</a:t>
            </a:r>
            <a:endParaRPr lang="en-US" sz="1800" dirty="0"/>
          </a:p>
        </p:txBody>
      </p:sp>
      <p:sp>
        <p:nvSpPr>
          <p:cNvPr id="12" name="paso_1_texto"/>
          <p:cNvSpPr txBox="1"/>
          <p:nvPr/>
        </p:nvSpPr>
        <p:spPr>
          <a:xfrm>
            <a:off x="1554480" y="3081528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Dijkstra inversos (uno por refugio) con los zombies del turno: ≈ 3 ms.</a:t>
            </a:r>
            <a:endParaRPr lang="en-US" sz="1400" dirty="0"/>
          </a:p>
        </p:txBody>
      </p:sp>
      <p:sp>
        <p:nvSpPr>
          <p:cNvPr id="13" name="paso_2"/>
          <p:cNvSpPr/>
          <p:nvPr/>
        </p:nvSpPr>
        <p:spPr>
          <a:xfrm>
            <a:off x="548640" y="3785616"/>
            <a:ext cx="64008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4" name="paso_2_icono_circulo"/>
          <p:cNvSpPr/>
          <p:nvPr/>
        </p:nvSpPr>
        <p:spPr>
          <a:xfrm>
            <a:off x="749808" y="4005072"/>
            <a:ext cx="621792" cy="6217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paso_2_icono_emoji"/>
          <p:cNvSpPr txBox="1"/>
          <p:nvPr/>
        </p:nvSpPr>
        <p:spPr>
          <a:xfrm>
            <a:off x="749808" y="400507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📡</a:t>
            </a:r>
            <a:endParaRPr lang="en-US" sz="2000" dirty="0"/>
          </a:p>
        </p:txBody>
      </p:sp>
      <p:sp>
        <p:nvSpPr>
          <p:cNvPr id="16" name="paso_2_titulo"/>
          <p:cNvSpPr txBox="1"/>
          <p:nvPr/>
        </p:nvSpPr>
        <p:spPr>
          <a:xfrm>
            <a:off x="1554480" y="3895344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200 sobrevivientes piden POST /paso</a:t>
            </a:r>
            <a:endParaRPr lang="en-US" sz="1800" dirty="0"/>
          </a:p>
        </p:txBody>
      </p:sp>
      <p:sp>
        <p:nvSpPr>
          <p:cNvPr id="17" name="paso_2_texto"/>
          <p:cNvSpPr txBox="1"/>
          <p:nvPr/>
        </p:nvSpPr>
        <p:spPr>
          <a:xfrm>
            <a:off x="1554480" y="4288536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respuesta solo consulta las tablas del turno: ≈ 3 µs de cálculo.</a:t>
            </a:r>
            <a:endParaRPr lang="en-US" sz="1400" dirty="0"/>
          </a:p>
        </p:txBody>
      </p:sp>
      <p:sp>
        <p:nvSpPr>
          <p:cNvPr id="18" name="paso_3"/>
          <p:cNvSpPr/>
          <p:nvPr/>
        </p:nvSpPr>
        <p:spPr>
          <a:xfrm>
            <a:off x="548640" y="4992624"/>
            <a:ext cx="64008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9" name="paso_3_icono_circulo"/>
          <p:cNvSpPr/>
          <p:nvPr/>
        </p:nvSpPr>
        <p:spPr>
          <a:xfrm>
            <a:off x="749808" y="5212080"/>
            <a:ext cx="621792" cy="62179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0" name="paso_3_icono_emoji"/>
          <p:cNvSpPr txBox="1"/>
          <p:nvPr/>
        </p:nvSpPr>
        <p:spPr>
          <a:xfrm>
            <a:off x="749808" y="521208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🏠</a:t>
            </a:r>
            <a:endParaRPr lang="en-US" sz="2000" dirty="0"/>
          </a:p>
        </p:txBody>
      </p:sp>
      <p:sp>
        <p:nvSpPr>
          <p:cNvPr id="21" name="paso_3_titulo"/>
          <p:cNvSpPr txBox="1"/>
          <p:nvPr/>
        </p:nvSpPr>
        <p:spPr>
          <a:xfrm>
            <a:off x="1554480" y="5102352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Mordidas y llegadas</a:t>
            </a:r>
            <a:endParaRPr lang="en-US" sz="1800" dirty="0"/>
          </a:p>
        </p:txBody>
      </p:sp>
      <p:sp>
        <p:nvSpPr>
          <p:cNvPr id="22" name="paso_3_texto"/>
          <p:cNvSpPr txBox="1"/>
          <p:nvPr/>
        </p:nvSpPr>
        <p:spPr>
          <a:xfrm>
            <a:off x="1554480" y="5495544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simulador valida cada movimiento y lleva el puntaje de la rúbrica en vivo.</a:t>
            </a:r>
            <a:endParaRPr lang="en-US" sz="1400" dirty="0"/>
          </a:p>
        </p:txBody>
      </p:sp>
      <p:sp>
        <p:nvSpPr>
          <p:cNvPr id="23" name="marco_mapa_vivo"/>
          <p:cNvSpPr/>
          <p:nvPr/>
        </p:nvSpPr>
        <p:spPr>
          <a:xfrm>
            <a:off x="7223760" y="1371600"/>
            <a:ext cx="4389120" cy="4672584"/>
          </a:xfrm>
          <a:prstGeom prst="roundRect">
            <a:avLst>
              <a:gd name="adj" fmla="val 2500"/>
            </a:avLst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pic>
        <p:nvPicPr>
          <p:cNvPr id="24" name="mapa_vivo" descr="Mapa en vivo durante la ronda 3: zombies por tipo, zonas de horda, rutas, camionetas y refugios con su ocupa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463040"/>
            <a:ext cx="4206240" cy="3505200"/>
          </a:xfrm>
          <a:prstGeom prst="rect">
            <a:avLst/>
          </a:prstGeom>
        </p:spPr>
      </p:pic>
      <p:sp>
        <p:nvSpPr>
          <p:cNvPr id="25" name="mapa_pie"/>
          <p:cNvSpPr txBox="1"/>
          <p:nvPr/>
        </p:nvSpPr>
        <p:spPr>
          <a:xfrm>
            <a:off x="7452360" y="5105400"/>
            <a:ext cx="393192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real del mapa en vivo (ronda 3): zombies, hordas, rutas, camionetas y cupos de refugios.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Cómo decide cada paso</a:t>
            </a:r>
            <a:endParaRPr lang="en-US" sz="3400" dirty="0"/>
          </a:p>
        </p:txBody>
      </p:sp>
      <p:sp>
        <p:nvSpPr>
          <p:cNvPr id="3" name="prohibido"/>
          <p:cNvSpPr/>
          <p:nvPr/>
        </p:nvSpPr>
        <p:spPr>
          <a:xfrm>
            <a:off x="548640" y="137160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4" name="prohibido_icono_circulo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" name="prohibido_icono_emoji"/>
          <p:cNvSpPr txBox="1"/>
          <p:nvPr/>
        </p:nvSpPr>
        <p:spPr>
          <a:xfrm>
            <a:off x="82296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⛔</a:t>
            </a:r>
            <a:endParaRPr lang="en-US" sz="2100" dirty="0"/>
          </a:p>
        </p:txBody>
      </p:sp>
      <p:sp>
        <p:nvSpPr>
          <p:cNvPr id="6" name="prohibido_titulo"/>
          <p:cNvSpPr txBox="1"/>
          <p:nvPr/>
        </p:nvSpPr>
        <p:spPr>
          <a:xfrm>
            <a:off x="1645920" y="1691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Nunca pisa</a:t>
            </a:r>
            <a:endParaRPr lang="en-US" sz="2200" dirty="0"/>
          </a:p>
        </p:txBody>
      </p:sp>
      <p:sp>
        <p:nvSpPr>
          <p:cNvPr id="7" name="prohibido_lista"/>
          <p:cNvSpPr txBox="1"/>
          <p:nvPr/>
        </p:nvSpPr>
        <p:spPr>
          <a:xfrm>
            <a:off x="868680" y="2514600"/>
            <a:ext cx="4892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nodo con zombie visible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horda y TODOS sus vecinos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calle cerrada (puente colapsado, avenida bloqueada)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Cruzarse con un zombie por la misma calle (incluye los 2 pasos de un corredor)</a:t>
            </a:r>
            <a:endParaRPr lang="en-US" sz="1800" dirty="0"/>
          </a:p>
        </p:txBody>
      </p:sp>
      <p:sp>
        <p:nvSpPr>
          <p:cNvPr id="8" name="costo"/>
          <p:cNvSpPr/>
          <p:nvPr/>
        </p:nvSpPr>
        <p:spPr>
          <a:xfrm>
            <a:off x="6172200" y="137160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9" name="costo_icono_circulo"/>
          <p:cNvSpPr/>
          <p:nvPr/>
        </p:nvSpPr>
        <p:spPr>
          <a:xfrm>
            <a:off x="6446520" y="16459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osto_icono_emoji"/>
          <p:cNvSpPr txBox="1"/>
          <p:nvPr/>
        </p:nvSpPr>
        <p:spPr>
          <a:xfrm>
            <a:off x="644652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🧭</a:t>
            </a:r>
            <a:endParaRPr lang="en-US" sz="2100" dirty="0"/>
          </a:p>
        </p:txBody>
      </p:sp>
      <p:sp>
        <p:nvSpPr>
          <p:cNvPr id="11" name="costo_titulo"/>
          <p:cNvSpPr txBox="1"/>
          <p:nvPr/>
        </p:nvSpPr>
        <p:spPr>
          <a:xfrm>
            <a:off x="7269480" y="1691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Elige el menor costo</a:t>
            </a:r>
            <a:endParaRPr lang="en-US" sz="2200" dirty="0"/>
          </a:p>
        </p:txBody>
      </p:sp>
      <p:sp>
        <p:nvSpPr>
          <p:cNvPr id="12" name="costo_lista"/>
          <p:cNvSpPr txBox="1"/>
          <p:nvPr/>
        </p:nvSpPr>
        <p:spPr>
          <a:xfrm>
            <a:off x="6492240" y="2514600"/>
            <a:ext cx="4892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÷ velocidad del tipo de calle (avenida 50, calle 30, puente 40 km/h)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+ 30 s por intersección: cada calle es un turno (eficiencia sin zombies 0.86 → 0.98)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penalización solo en las TRAMPAS: donde un zombie puede caer el próximo turno sin dejar salida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0 mordidas evitables en rondas completas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Resultados medidos, no prometidos</a:t>
            </a:r>
            <a:endParaRPr lang="en-US" sz="3400" dirty="0"/>
          </a:p>
        </p:txBody>
      </p:sp>
      <p:sp>
        <p:nvSpPr>
          <p:cNvPr id="3" name="puntaje_valor"/>
          <p:cNvSpPr txBox="1"/>
          <p:nvPr/>
        </p:nvSpPr>
        <p:spPr>
          <a:xfrm>
            <a:off x="548640" y="13716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9.61</a:t>
            </a:r>
            <a:endParaRPr lang="en-US" sz="4800" dirty="0"/>
          </a:p>
        </p:txBody>
      </p:sp>
      <p:sp>
        <p:nvSpPr>
          <p:cNvPr id="4" name="puntaje_etiqueta"/>
          <p:cNvSpPr txBox="1"/>
          <p:nvPr/>
        </p:nvSpPr>
        <p:spPr>
          <a:xfrm>
            <a:off x="548640" y="22402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10 en la rúbrica: 3 rondas en un contenedor ARM64 de 0.5 vCPU (CI)</a:t>
            </a:r>
            <a:endParaRPr lang="en-US" sz="1400" dirty="0"/>
          </a:p>
        </p:txBody>
      </p:sp>
      <p:sp>
        <p:nvSpPr>
          <p:cNvPr id="5" name="p95_valor"/>
          <p:cNvSpPr txBox="1"/>
          <p:nvPr/>
        </p:nvSpPr>
        <p:spPr>
          <a:xfrm>
            <a:off x="3291840" y="13716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14 ms</a:t>
            </a:r>
            <a:endParaRPr lang="en-US" sz="4800" dirty="0"/>
          </a:p>
        </p:txBody>
      </p:sp>
      <p:sp>
        <p:nvSpPr>
          <p:cNvPr id="6" name="p95_etiqueta"/>
          <p:cNvSpPr txBox="1"/>
          <p:nvPr/>
        </p:nvSpPr>
        <p:spPr>
          <a:xfrm>
            <a:off x="3291840" y="22402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de POST /paso en la ronda 3, 200 a la vez (umbral 150 ms)</a:t>
            </a:r>
            <a:endParaRPr lang="en-US" sz="1400" dirty="0"/>
          </a:p>
        </p:txBody>
      </p:sp>
      <p:sp>
        <p:nvSpPr>
          <p:cNvPr id="7" name="errores_valor"/>
          <p:cNvSpPr txBox="1"/>
          <p:nvPr/>
        </p:nvSpPr>
        <p:spPr>
          <a:xfrm>
            <a:off x="548640" y="32004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0 %</a:t>
            </a:r>
            <a:endParaRPr lang="en-US" sz="4800" dirty="0"/>
          </a:p>
        </p:txBody>
      </p:sp>
      <p:sp>
        <p:nvSpPr>
          <p:cNvPr id="8" name="errores_etiqueta"/>
          <p:cNvSpPr txBox="1"/>
          <p:nvPr/>
        </p:nvSpPr>
        <p:spPr>
          <a:xfrm>
            <a:off x="548640" y="40690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o respuestas de más de 500 ms</a:t>
            </a:r>
            <a:endParaRPr lang="en-US" sz="1400" dirty="0"/>
          </a:p>
        </p:txBody>
      </p:sp>
      <p:sp>
        <p:nvSpPr>
          <p:cNvPr id="9" name="supervivencia_valor"/>
          <p:cNvSpPr txBox="1"/>
          <p:nvPr/>
        </p:nvSpPr>
        <p:spPr>
          <a:xfrm>
            <a:off x="3291840" y="32004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98 %</a:t>
            </a:r>
            <a:endParaRPr lang="en-US" sz="4800" dirty="0"/>
          </a:p>
        </p:txBody>
      </p:sp>
      <p:sp>
        <p:nvSpPr>
          <p:cNvPr id="10" name="supervivencia_etiqueta"/>
          <p:cNvSpPr txBox="1"/>
          <p:nvPr/>
        </p:nvSpPr>
        <p:spPr>
          <a:xfrm>
            <a:off x="3291840" y="40690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supervivencia en la ronda 3 de 150 turnos: 200 a la vez, todos los zombies</a:t>
            </a:r>
            <a:endParaRPr lang="en-US" sz="1400" dirty="0"/>
          </a:p>
        </p:txBody>
      </p:sp>
      <p:sp>
        <p:nvSpPr>
          <p:cNvPr id="11" name="resultados_pie"/>
          <p:cNvSpPr txBox="1"/>
          <p:nvPr/>
        </p:nvSpPr>
        <p:spPr>
          <a:xfrm>
            <a:off x="548640" y="5120640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Rondas de 150 turnos, grafo de Manta, 6 semillas: supervivencia+eficiencia 6.54 de 7 (tools/ab_planner.py).</a:t>
            </a:r>
            <a:endParaRPr lang="en-US" sz="1400" dirty="0"/>
          </a:p>
        </p:txBody>
      </p:sp>
      <p:graphicFrame>
        <p:nvGraphicFramePr>
          <p:cNvPr id="12" name="grafico_ab" descr=""/>
          <p:cNvGraphicFramePr/>
          <p:nvPr/>
        </p:nvGraphicFramePr>
        <p:xfrm>
          <a:off x="6172200" y="1325880"/>
          <a:ext cx="54406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Nivel PRO, con su efecto medido</a:t>
            </a:r>
            <a:endParaRPr lang="en-US" sz="3400" dirty="0"/>
          </a:p>
        </p:txBody>
      </p:sp>
      <p:sp>
        <p:nvSpPr>
          <p:cNvPr id="3" name="pro_0"/>
          <p:cNvSpPr/>
          <p:nvPr/>
        </p:nvSpPr>
        <p:spPr>
          <a:xfrm>
            <a:off x="548640" y="1371600"/>
            <a:ext cx="3520440" cy="420624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4" name="pro_0_icono_circulo"/>
          <p:cNvSpPr/>
          <p:nvPr/>
        </p:nvSpPr>
        <p:spPr>
          <a:xfrm>
            <a:off x="868680" y="169164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" name="pro_0_icono_emoji"/>
          <p:cNvSpPr txBox="1"/>
          <p:nvPr/>
        </p:nvSpPr>
        <p:spPr>
          <a:xfrm>
            <a:off x="86868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🏃</a:t>
            </a:r>
            <a:endParaRPr lang="en-US" sz="2400" dirty="0"/>
          </a:p>
        </p:txBody>
      </p:sp>
      <p:sp>
        <p:nvSpPr>
          <p:cNvPr id="6" name="pro_0_titulo"/>
          <p:cNvSpPr txBox="1"/>
          <p:nvPr/>
        </p:nvSpPr>
        <p:spPr>
          <a:xfrm>
            <a:off x="868680" y="2606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Predicción de corredores</a:t>
            </a:r>
            <a:endParaRPr lang="en-US" sz="2000" dirty="0"/>
          </a:p>
        </p:txBody>
      </p:sp>
      <p:sp>
        <p:nvSpPr>
          <p:cNvPr id="7" name="pro_0_texto"/>
          <p:cNvSpPr txBox="1"/>
          <p:nvPr/>
        </p:nvSpPr>
        <p:spPr>
          <a:xfrm>
            <a:off x="868680" y="33832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su persecución (2 calles por turno hacia el más cercano a ≤ 3) y evita las trampas.</a:t>
            </a:r>
            <a:endParaRPr lang="en-US" sz="1500" dirty="0"/>
          </a:p>
        </p:txBody>
      </p:sp>
      <p:sp>
        <p:nvSpPr>
          <p:cNvPr id="8" name="pro_0_dato"/>
          <p:cNvSpPr txBox="1"/>
          <p:nvPr/>
        </p:nvSpPr>
        <p:spPr>
          <a:xfrm>
            <a:off x="868680" y="46177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R2: −19 % mordidas, eficiencia 0.80 → 0.82</a:t>
            </a:r>
            <a:endParaRPr lang="en-US" sz="1600" dirty="0"/>
          </a:p>
        </p:txBody>
      </p:sp>
      <p:sp>
        <p:nvSpPr>
          <p:cNvPr id="9" name="pro_1"/>
          <p:cNvSpPr/>
          <p:nvPr/>
        </p:nvSpPr>
        <p:spPr>
          <a:xfrm>
            <a:off x="4325112" y="1371600"/>
            <a:ext cx="3520440" cy="420624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0" name="pro_1_icono_circulo"/>
          <p:cNvSpPr/>
          <p:nvPr/>
        </p:nvSpPr>
        <p:spPr>
          <a:xfrm>
            <a:off x="4645152" y="169164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1" name="pro_1_icono_emoji"/>
          <p:cNvSpPr txBox="1"/>
          <p:nvPr/>
        </p:nvSpPr>
        <p:spPr>
          <a:xfrm>
            <a:off x="4645152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🏥</a:t>
            </a:r>
            <a:endParaRPr lang="en-US" sz="2400" dirty="0"/>
          </a:p>
        </p:txBody>
      </p:sp>
      <p:sp>
        <p:nvSpPr>
          <p:cNvPr id="12" name="pro_1_titulo"/>
          <p:cNvSpPr txBox="1"/>
          <p:nvPr/>
        </p:nvSpPr>
        <p:spPr>
          <a:xfrm>
            <a:off x="4645152" y="2606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Capacidad de refugios</a:t>
            </a:r>
            <a:endParaRPr lang="en-US" sz="2000" dirty="0"/>
          </a:p>
        </p:txBody>
      </p:sp>
      <p:sp>
        <p:nvSpPr>
          <p:cNvPr id="13" name="pro_1_texto"/>
          <p:cNvSpPr txBox="1"/>
          <p:nvPr/>
        </p:nvSpPr>
        <p:spPr>
          <a:xfrm>
            <a:off x="4645152" y="33832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refugio tiene cupo y evacúa por turno; el planner reparte según el cupo a la hora de llegada.</a:t>
            </a:r>
            <a:endParaRPr lang="en-US" sz="1500" dirty="0"/>
          </a:p>
        </p:txBody>
      </p:sp>
      <p:sp>
        <p:nvSpPr>
          <p:cNvPr id="14" name="pro_1_dato"/>
          <p:cNvSpPr txBox="1"/>
          <p:nvPr/>
        </p:nvSpPr>
        <p:spPr>
          <a:xfrm>
            <a:off x="4645152" y="46177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−84 % llegadas a refugios llenos (R2+R3)</a:t>
            </a:r>
            <a:endParaRPr lang="en-US" sz="1600" dirty="0"/>
          </a:p>
        </p:txBody>
      </p:sp>
      <p:sp>
        <p:nvSpPr>
          <p:cNvPr id="15" name="pro_2"/>
          <p:cNvSpPr/>
          <p:nvPr/>
        </p:nvSpPr>
        <p:spPr>
          <a:xfrm>
            <a:off x="8101584" y="1371600"/>
            <a:ext cx="3520440" cy="420624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6" name="pro_2_icono_circulo"/>
          <p:cNvSpPr/>
          <p:nvPr/>
        </p:nvSpPr>
        <p:spPr>
          <a:xfrm>
            <a:off x="8421624" y="16916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pro_2_icono_emoji"/>
          <p:cNvSpPr txBox="1"/>
          <p:nvPr/>
        </p:nvSpPr>
        <p:spPr>
          <a:xfrm>
            <a:off x="8421624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🚐</a:t>
            </a:r>
            <a:endParaRPr lang="en-US" sz="2400" dirty="0"/>
          </a:p>
        </p:txBody>
      </p:sp>
      <p:sp>
        <p:nvSpPr>
          <p:cNvPr id="18" name="pro_2_titulo"/>
          <p:cNvSpPr txBox="1"/>
          <p:nvPr/>
        </p:nvSpPr>
        <p:spPr>
          <a:xfrm>
            <a:off x="8421624" y="2606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Flota de rescate</a:t>
            </a:r>
            <a:endParaRPr lang="en-US" sz="2000" dirty="0"/>
          </a:p>
        </p:txBody>
      </p:sp>
      <p:sp>
        <p:nvSpPr>
          <p:cNvPr id="19" name="pro_2_texto"/>
          <p:cNvSpPr txBox="1"/>
          <p:nvPr/>
        </p:nvSpPr>
        <p:spPr>
          <a:xfrm>
            <a:off x="8421624" y="33832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camionetas, 2 calles por turno, 4 plazas: el servidor decide a quién recoger y en qué orden.</a:t>
            </a:r>
            <a:endParaRPr lang="en-US" sz="1500" dirty="0"/>
          </a:p>
        </p:txBody>
      </p:sp>
      <p:sp>
        <p:nvSpPr>
          <p:cNvPr id="20" name="pro_2_dato"/>
          <p:cNvSpPr txBox="1"/>
          <p:nvPr/>
        </p:nvSpPr>
        <p:spPr>
          <a:xfrm>
            <a:off x="8421624" y="46177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R3: ≈ 450 rescates por ronda, eficiencia 0.70 → 0.74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AWS barato, seguro y sin arranques en frío</a:t>
            </a:r>
            <a:endParaRPr lang="en-US" sz="3400" dirty="0"/>
          </a:p>
        </p:txBody>
      </p:sp>
      <p:sp>
        <p:nvSpPr>
          <p:cNvPr id="3" name="marco_arquitectura"/>
          <p:cNvSpPr/>
          <p:nvPr/>
        </p:nvSpPr>
        <p:spPr>
          <a:xfrm>
            <a:off x="548640" y="1325880"/>
            <a:ext cx="7178040" cy="4617720"/>
          </a:xfrm>
          <a:prstGeom prst="roundRect">
            <a:avLst>
              <a:gd name="adj" fmla="val 1980"/>
            </a:avLst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4" name="arquitectura" descr="Arquitectura en AWS: CloudFront, S3, ALB, ECS Fargate, DynamoDB, SSM, Cloud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6995160" cy="4370832"/>
          </a:xfrm>
          <a:prstGeom prst="rect">
            <a:avLst/>
          </a:prstGeom>
        </p:spPr>
      </p:pic>
      <p:sp>
        <p:nvSpPr>
          <p:cNvPr id="5" name="costo_mes_valor"/>
          <p:cNvSpPr txBox="1"/>
          <p:nvPr/>
        </p:nvSpPr>
        <p:spPr>
          <a:xfrm>
            <a:off x="8001000" y="13258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41.86 USD</a:t>
            </a:r>
            <a:endParaRPr lang="en-US" sz="4800" dirty="0"/>
          </a:p>
        </p:txBody>
      </p:sp>
      <p:sp>
        <p:nvSpPr>
          <p:cNvPr id="6" name="costo_mes_etiqueta"/>
          <p:cNvSpPr txBox="1"/>
          <p:nvPr/>
        </p:nvSpPr>
        <p:spPr>
          <a:xfrm>
            <a:off x="8001000" y="21945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mes 24/7 · ≈ 6.90 USD los 5 días del evento</a:t>
            </a:r>
            <a:endParaRPr lang="en-US" sz="1400" dirty="0"/>
          </a:p>
        </p:txBody>
      </p:sp>
      <p:sp>
        <p:nvSpPr>
          <p:cNvPr id="7" name="aws_lista"/>
          <p:cNvSpPr txBox="1"/>
          <p:nvPr/>
        </p:nvSpPr>
        <p:spPr>
          <a:xfrm>
            <a:off x="8001000" y="315468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Fargate, no Lambda: estado en memoria y sin arranques en frío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NAT, API Gateway ni Redis: ~40 USD/mes menos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keys en SSM: la del jurado solo sirve para /paso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individual con MFA y Budget de 50 USD con alertas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6309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 zombies a tsunamis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6309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motor sirve para evacuar la costa de Manabí: cambia «zombie» por «zona inundada».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d160b5kavxovby.cloudfront.net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github.com/TheDarw1n/menincloud_spookython-2026</a:t>
            </a:r>
            <a:endParaRPr lang="en-US" sz="2000" dirty="0"/>
          </a:p>
        </p:txBody>
      </p:sp>
      <p:sp>
        <p:nvSpPr>
          <p:cNvPr id="4" name="proximos"/>
          <p:cNvSpPr/>
          <p:nvPr/>
        </p:nvSpPr>
        <p:spPr>
          <a:xfrm>
            <a:off x="7178040" y="1463040"/>
            <a:ext cx="4526280" cy="3566160"/>
          </a:xfrm>
          <a:prstGeom prst="roundRect">
            <a:avLst>
              <a:gd name="adj" fmla="val 3077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5" name="proximos_titulo"/>
          <p:cNvSpPr txBox="1"/>
          <p:nvPr/>
        </p:nvSpPr>
        <p:spPr>
          <a:xfrm>
            <a:off x="7498080" y="17373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Lo que sigue</a:t>
            </a:r>
            <a:endParaRPr lang="en-US" sz="2200" dirty="0"/>
          </a:p>
        </p:txBody>
      </p:sp>
      <p:sp>
        <p:nvSpPr>
          <p:cNvPr id="6" name="proximos_lista"/>
          <p:cNvSpPr txBox="1"/>
          <p:nvPr/>
        </p:nvSpPr>
        <p:spPr>
          <a:xfrm>
            <a:off x="7498080" y="2423160"/>
            <a:ext cx="39319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Zonas de inundación reales de la Secretaría de Gestión de Riesgos en vez de zombies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Varias réplicas compartiendo las tablas de cada turno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móvil que guía a cada persona paso a paso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ta Zombie Noche">
  <a:themeElements>
    <a:clrScheme name="Manta Zombie Noche">
      <a:dk1>
        <a:srgbClr val="0B0B1A"/>
      </a:dk1>
      <a:lt1>
        <a:srgbClr val="FFFFFF"/>
      </a:lt1>
      <a:dk2>
        <a:srgbClr val="1E1A3A"/>
      </a:dk2>
      <a:lt2>
        <a:srgbClr val="D9D3F5"/>
      </a:lt2>
      <a:accent1>
        <a:srgbClr val="F6AD55"/>
      </a:accent1>
      <a:accent2>
        <a:srgbClr val="8B5CF6"/>
      </a:accent2>
      <a:accent3>
        <a:srgbClr val="34D399"/>
      </a:accent3>
      <a:accent4>
        <a:srgbClr val="F87171"/>
      </a:accent4>
      <a:accent5>
        <a:srgbClr val="60A5FA"/>
      </a:accent5>
      <a:accent6>
        <a:srgbClr val="FBBF24"/>
      </a:accent6>
      <a:hlink>
        <a:srgbClr val="F6AD55"/>
      </a:hlink>
      <a:folHlink>
        <a:srgbClr val="C4B5FD"/>
      </a:folHlink>
    </a:clrScheme>
    <a:fontScheme name="Manta Zombie Noche">
      <a:majorFont>
        <a:latin typeface="Bookman Old Sty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Escape de Manta Zombie · Pitch Track A</dc:title>
  <dc:subject>Spookython 2026 · Track A</dc:subject>
  <dc:creator>Jonathan Cruz, Kenneth Salazar, Jostin Moran</dc:creator>
  <cp:lastModifiedBy>Jonathan Cruz, Kenneth Salazar, Jostin Moran</cp:lastModifiedBy>
  <cp:revision>1</cp:revision>
  <dcterms:created xsi:type="dcterms:W3CDTF">2026-10-27T18:11:25Z</dcterms:created>
  <dcterms:modified xsi:type="dcterms:W3CDTF">2026-10-27T18:11:25Z</dcterms:modified>
</cp:coreProperties>
</file>